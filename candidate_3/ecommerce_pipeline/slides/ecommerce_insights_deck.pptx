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3d8fb0"/>
            </a:solidFill>
            <a:ln w="31680">
              <a:solidFill>
                <a:srgbClr val="3d8fb0"/>
              </a:solidFill>
              <a:round/>
            </a:ln>
          </c:spPr>
          <c:marker>
            <c:symbol val="circle"/>
            <c:size val="4"/>
            <c:spPr>
              <a:solidFill>
                <a:srgbClr val="3d8fb0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5"/>
                <c:pt idx="0">
                  <c:v>2009-12</c:v>
                </c:pt>
                <c:pt idx="1">
                  <c:v>2010-01</c:v>
                </c:pt>
                <c:pt idx="2">
                  <c:v>2010-02</c:v>
                </c:pt>
                <c:pt idx="3">
                  <c:v>2010-03</c:v>
                </c:pt>
                <c:pt idx="4">
                  <c:v>2010-04</c:v>
                </c:pt>
                <c:pt idx="5">
                  <c:v>2010-05</c:v>
                </c:pt>
                <c:pt idx="6">
                  <c:v>2010-06</c:v>
                </c:pt>
                <c:pt idx="7">
                  <c:v>2010-07</c:v>
                </c:pt>
                <c:pt idx="8">
                  <c:v>2010-08</c:v>
                </c:pt>
                <c:pt idx="9">
                  <c:v>2010-09</c:v>
                </c:pt>
                <c:pt idx="10">
                  <c:v>2010-10</c:v>
                </c:pt>
                <c:pt idx="11">
                  <c:v>2010-11</c:v>
                </c:pt>
                <c:pt idx="12">
                  <c:v>2010-12</c:v>
                </c:pt>
                <c:pt idx="13">
                  <c:v>2011-01</c:v>
                </c:pt>
                <c:pt idx="14">
                  <c:v>2011-02</c:v>
                </c:pt>
                <c:pt idx="15">
                  <c:v>2011-03</c:v>
                </c:pt>
                <c:pt idx="16">
                  <c:v>2011-04</c:v>
                </c:pt>
                <c:pt idx="17">
                  <c:v>2011-05</c:v>
                </c:pt>
                <c:pt idx="18">
                  <c:v>2011-06</c:v>
                </c:pt>
                <c:pt idx="19">
                  <c:v>2011-07</c:v>
                </c:pt>
                <c:pt idx="20">
                  <c:v>2011-08</c:v>
                </c:pt>
                <c:pt idx="21">
                  <c:v>2011-09</c:v>
                </c:pt>
                <c:pt idx="22">
                  <c:v>2011-10</c:v>
                </c:pt>
                <c:pt idx="23">
                  <c:v>2011-11</c:v>
                </c:pt>
                <c:pt idx="24">
                  <c:v>2011-12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5"/>
                <c:pt idx="0">
                  <c:v>685000</c:v>
                </c:pt>
                <c:pt idx="1">
                  <c:v>560000</c:v>
                </c:pt>
                <c:pt idx="2">
                  <c:v>505000</c:v>
                </c:pt>
                <c:pt idx="3">
                  <c:v>698000</c:v>
                </c:pt>
                <c:pt idx="4">
                  <c:v>592000</c:v>
                </c:pt>
                <c:pt idx="5">
                  <c:v>600000</c:v>
                </c:pt>
                <c:pt idx="6">
                  <c:v>635000</c:v>
                </c:pt>
                <c:pt idx="7">
                  <c:v>590000</c:v>
                </c:pt>
                <c:pt idx="8">
                  <c:v>602000</c:v>
                </c:pt>
                <c:pt idx="9">
                  <c:v>830000</c:v>
                </c:pt>
                <c:pt idx="10">
                  <c:v>1030000</c:v>
                </c:pt>
                <c:pt idx="11">
                  <c:v>1170000</c:v>
                </c:pt>
                <c:pt idx="12">
                  <c:v>570000</c:v>
                </c:pt>
                <c:pt idx="13">
                  <c:v>568000</c:v>
                </c:pt>
                <c:pt idx="14">
                  <c:v>445000</c:v>
                </c:pt>
                <c:pt idx="15">
                  <c:v>595000</c:v>
                </c:pt>
                <c:pt idx="16">
                  <c:v>465000</c:v>
                </c:pt>
                <c:pt idx="17">
                  <c:v>675000</c:v>
                </c:pt>
                <c:pt idx="18">
                  <c:v>660000</c:v>
                </c:pt>
                <c:pt idx="19">
                  <c:v>600000</c:v>
                </c:pt>
                <c:pt idx="20">
                  <c:v>645000</c:v>
                </c:pt>
                <c:pt idx="21">
                  <c:v>950000</c:v>
                </c:pt>
                <c:pt idx="22">
                  <c:v>1030000</c:v>
                </c:pt>
                <c:pt idx="23">
                  <c:v>1155000</c:v>
                </c:pt>
                <c:pt idx="24">
                  <c:v>515000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70150769"/>
        <c:axId val="88241362"/>
      </c:lineChart>
      <c:catAx>
        <c:axId val="7015076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 rot="2700000"/>
          <a:lstStyle/>
          <a:p>
            <a:pPr>
              <a:defRPr b="0" sz="800" spc="-1" strike="noStrike">
                <a:solidFill>
                  <a:srgbClr val="6b7280"/>
                </a:solidFill>
                <a:latin typeface="Arial"/>
              </a:defRPr>
            </a:pPr>
          </a:p>
        </c:txPr>
        <c:crossAx val="88241362"/>
        <c:crosses val="autoZero"/>
        <c:auto val="1"/>
        <c:lblAlgn val="ctr"/>
        <c:lblOffset val="100"/>
        <c:noMultiLvlLbl val="0"/>
      </c:catAx>
      <c:valAx>
        <c:axId val="88241362"/>
        <c:scaling>
          <c:orientation val="minMax"/>
          <c:min val="0"/>
        </c:scaling>
        <c:delete val="0"/>
        <c:axPos val="l"/>
        <c:majorGridlines>
          <c:spPr>
            <a:ln w="12600">
              <a:solidFill>
                <a:srgbClr val="dce3f0"/>
              </a:solidFill>
              <a:round/>
            </a:ln>
          </c:spPr>
        </c:majorGridlines>
        <c:numFmt formatCode="£#,##0,,\M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6b7280"/>
                </a:solidFill>
                <a:latin typeface="Arial"/>
              </a:defRPr>
            </a:pPr>
          </a:p>
        </c:txPr>
        <c:crossAx val="7015076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936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1e2761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United Kingdom</c:v>
                </c:pt>
                <c:pt idx="1">
                  <c:v>EIRE</c:v>
                </c:pt>
                <c:pt idx="2">
                  <c:v>Netherlands</c:v>
                </c:pt>
                <c:pt idx="3">
                  <c:v>Germany</c:v>
                </c:pt>
                <c:pt idx="4">
                  <c:v>France</c:v>
                </c:pt>
                <c:pt idx="5">
                  <c:v>Australia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14400000</c:v>
                </c:pt>
                <c:pt idx="1">
                  <c:v>616000</c:v>
                </c:pt>
                <c:pt idx="2">
                  <c:v>550000</c:v>
                </c:pt>
                <c:pt idx="3">
                  <c:v>450000</c:v>
                </c:pt>
                <c:pt idx="4">
                  <c:v>400000</c:v>
                </c:pt>
                <c:pt idx="5">
                  <c:v>200000</c:v>
                </c:pt>
              </c:numCache>
            </c:numRef>
          </c:val>
        </c:ser>
        <c:gapWidth val="150"/>
        <c:overlap val="0"/>
        <c:axId val="92746186"/>
        <c:axId val="93596148"/>
      </c:barChart>
      <c:catAx>
        <c:axId val="9274618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2b2e4a"/>
                </a:solidFill>
                <a:latin typeface="Arial"/>
              </a:defRPr>
            </a:pPr>
          </a:p>
        </c:txPr>
        <c:crossAx val="93596148"/>
        <c:crosses val="autoZero"/>
        <c:auto val="1"/>
        <c:lblAlgn val="ctr"/>
        <c:lblOffset val="100"/>
        <c:noMultiLvlLbl val="0"/>
      </c:catAx>
      <c:valAx>
        <c:axId val="93596148"/>
        <c:scaling>
          <c:orientation val="minMax"/>
        </c:scaling>
        <c:delete val="0"/>
        <c:axPos val="l"/>
        <c:majorGridlines>
          <c:spPr>
            <a:ln w="12600">
              <a:solidFill>
                <a:srgbClr val="dce3f0"/>
              </a:solidFill>
              <a:round/>
            </a:ln>
          </c:spPr>
        </c:majorGridlines>
        <c:numFmt formatCode="£#,##0,,\M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6b7280"/>
                </a:solidFill>
                <a:latin typeface="Arial"/>
              </a:defRPr>
            </a:pPr>
          </a:p>
        </c:txPr>
        <c:crossAx val="9274618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936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3d8fb0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22423</c:v>
                </c:pt>
                <c:pt idx="1">
                  <c:v>85123A</c:v>
                </c:pt>
                <c:pt idx="2">
                  <c:v>23843</c:v>
                </c:pt>
                <c:pt idx="3">
                  <c:v>85099B</c:v>
                </c:pt>
                <c:pt idx="4">
                  <c:v>84879</c:v>
                </c:pt>
                <c:pt idx="5">
                  <c:v>47566</c:v>
                </c:pt>
                <c:pt idx="6">
                  <c:v>23166</c:v>
                </c:pt>
                <c:pt idx="7">
                  <c:v>22086</c:v>
                </c:pt>
                <c:pt idx="8">
                  <c:v>79321</c:v>
                </c:pt>
                <c:pt idx="9">
                  <c:v>22386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280000</c:v>
                </c:pt>
                <c:pt idx="1">
                  <c:v>248000</c:v>
                </c:pt>
                <c:pt idx="2">
                  <c:v>168000</c:v>
                </c:pt>
                <c:pt idx="3">
                  <c:v>168000</c:v>
                </c:pt>
                <c:pt idx="4">
                  <c:v>123000</c:v>
                </c:pt>
                <c:pt idx="5">
                  <c:v>103000</c:v>
                </c:pt>
                <c:pt idx="6">
                  <c:v>82000</c:v>
                </c:pt>
                <c:pt idx="7">
                  <c:v>78000</c:v>
                </c:pt>
                <c:pt idx="8">
                  <c:v>70000</c:v>
                </c:pt>
                <c:pt idx="9">
                  <c:v>68000</c:v>
                </c:pt>
              </c:numCache>
            </c:numRef>
          </c:val>
        </c:ser>
        <c:gapWidth val="150"/>
        <c:overlap val="0"/>
        <c:axId val="75878486"/>
        <c:axId val="96588582"/>
      </c:barChart>
      <c:catAx>
        <c:axId val="7587848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2b2e4a"/>
                </a:solidFill>
                <a:latin typeface="Arial"/>
              </a:defRPr>
            </a:pPr>
          </a:p>
        </c:txPr>
        <c:crossAx val="96588582"/>
        <c:crosses val="autoZero"/>
        <c:auto val="1"/>
        <c:lblAlgn val="ctr"/>
        <c:lblOffset val="100"/>
        <c:noMultiLvlLbl val="0"/>
      </c:catAx>
      <c:valAx>
        <c:axId val="96588582"/>
        <c:scaling>
          <c:orientation val="minMax"/>
        </c:scaling>
        <c:delete val="0"/>
        <c:axPos val="l"/>
        <c:majorGridlines>
          <c:spPr>
            <a:ln w="12600">
              <a:solidFill>
                <a:srgbClr val="dce3f0"/>
              </a:solidFill>
              <a:round/>
            </a:ln>
          </c:spPr>
        </c:majorGridlines>
        <c:numFmt formatCode="£#,##0,\K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6b7280"/>
                </a:solidFill>
                <a:latin typeface="Arial"/>
              </a:defRPr>
            </a:pPr>
          </a:p>
        </c:txPr>
        <c:crossAx val="7587848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936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Return Rate %</c:v>
                </c:pt>
              </c:strCache>
            </c:strRef>
          </c:tx>
          <c:spPr>
            <a:solidFill>
              <a:srgbClr val="3d8fb0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3d8fb0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e8734a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3d8fb0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3d8fb0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e8734a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3d8fb0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3d8fb0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3d8fb0"/>
              </a:solidFill>
              <a:ln w="0">
                <a:noFill/>
              </a:ln>
            </c:spPr>
          </c:dPt>
          <c:dPt>
            <c:idx val="8"/>
            <c:invertIfNegative val="0"/>
            <c:spPr>
              <a:solidFill>
                <a:srgbClr val="3d8fb0"/>
              </a:solidFill>
              <a:ln w="0">
                <a:noFill/>
              </a:ln>
            </c:spPr>
          </c:dPt>
          <c:dPt>
            <c:idx val="9"/>
            <c:invertIfNegative val="0"/>
            <c:spPr>
              <a:solidFill>
                <a:srgbClr val="3d8fb0"/>
              </a:solidFill>
              <a:ln w="0">
                <a:noFill/>
              </a:ln>
            </c:spPr>
          </c:dPt>
          <c:dLbls>
            <c:numFmt formatCode="0\%" sourceLinked="0"/>
            <c:dLbl>
              <c:idx val="0"/>
              <c:numFmt formatCode="0\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\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\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\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\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\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\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0\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8"/>
              <c:numFmt formatCode="0\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9"/>
              <c:numFmt formatCode="0\%" sourceLinked="0"/>
              <c:txPr>
                <a:bodyPr wrap="square"/>
                <a:lstStyle/>
                <a:p>
                  <a:pPr>
                    <a:defRPr b="0" sz="9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900" spc="-1" strike="noStrike">
                    <a:solidFill>
                      <a:srgbClr val="2b2e4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20715</c:v>
                </c:pt>
                <c:pt idx="1">
                  <c:v>23843</c:v>
                </c:pt>
                <c:pt idx="2">
                  <c:v>44217M</c:v>
                </c:pt>
                <c:pt idx="3">
                  <c:v>21950</c:v>
                </c:pt>
                <c:pt idx="4">
                  <c:v>23166</c:v>
                </c:pt>
                <c:pt idx="5">
                  <c:v>72045D</c:v>
                </c:pt>
                <c:pt idx="6">
                  <c:v>23113</c:v>
                </c:pt>
                <c:pt idx="7">
                  <c:v>20952</c:v>
                </c:pt>
                <c:pt idx="8">
                  <c:v>21450</c:v>
                </c:pt>
                <c:pt idx="9">
                  <c:v>90174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97</c:v>
                </c:pt>
                <c:pt idx="4">
                  <c:v>94</c:v>
                </c:pt>
                <c:pt idx="5">
                  <c:v>92</c:v>
                </c:pt>
                <c:pt idx="6">
                  <c:v>84</c:v>
                </c:pt>
                <c:pt idx="7">
                  <c:v>78</c:v>
                </c:pt>
                <c:pt idx="8">
                  <c:v>78</c:v>
                </c:pt>
                <c:pt idx="9">
                  <c:v>76</c:v>
                </c:pt>
              </c:numCache>
            </c:numRef>
          </c:val>
        </c:ser>
        <c:gapWidth val="150"/>
        <c:overlap val="0"/>
        <c:axId val="8053276"/>
        <c:axId val="62270561"/>
      </c:barChart>
      <c:catAx>
        <c:axId val="80532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2b2e4a"/>
                </a:solidFill>
                <a:latin typeface="Arial"/>
              </a:defRPr>
            </a:pPr>
          </a:p>
        </c:txPr>
        <c:crossAx val="62270561"/>
        <c:crosses val="autoZero"/>
        <c:auto val="1"/>
        <c:lblAlgn val="ctr"/>
        <c:lblOffset val="100"/>
        <c:noMultiLvlLbl val="0"/>
      </c:catAx>
      <c:valAx>
        <c:axId val="62270561"/>
        <c:scaling>
          <c:orientation val="minMax"/>
          <c:max val="110"/>
          <c:min val="0"/>
        </c:scaling>
        <c:delete val="0"/>
        <c:axPos val="l"/>
        <c:majorGridlines>
          <c:spPr>
            <a:ln w="12600">
              <a:solidFill>
                <a:srgbClr val="dce3f0"/>
              </a:solidFill>
              <a:round/>
            </a:ln>
          </c:spPr>
        </c:majorGridlines>
        <c:numFmt formatCode="0\%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6b7280"/>
                </a:solidFill>
                <a:latin typeface="Arial"/>
              </a:defRPr>
            </a:pPr>
          </a:p>
        </c:txPr>
        <c:crossAx val="805327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936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6b7280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6b7280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3d8fb0"/>
              </a:solidFill>
              <a:ln w="0">
                <a:noFill/>
              </a:ln>
            </c:spPr>
          </c:dPt>
          <c:dLbls>
            <c:numFmt formatCode="0.00\s" sourceLinked="0"/>
            <c:dLbl>
              <c:idx val="0"/>
              <c:numFmt formatCode="0.00\s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0\s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2b2e4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00" spc="-1" strike="noStrike">
                    <a:solidFill>
                      <a:srgbClr val="2b2e4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Pandas</c:v>
                </c:pt>
                <c:pt idx="1">
                  <c:v>Polars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2.85</c:v>
                </c:pt>
                <c:pt idx="1">
                  <c:v>0.46</c:v>
                </c:pt>
              </c:numCache>
            </c:numRef>
          </c:val>
        </c:ser>
        <c:gapWidth val="150"/>
        <c:overlap val="0"/>
        <c:axId val="57309743"/>
        <c:axId val="5747373"/>
      </c:barChart>
      <c:catAx>
        <c:axId val="5730974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2b2e4a"/>
                </a:solidFill>
                <a:latin typeface="Arial"/>
              </a:defRPr>
            </a:pPr>
          </a:p>
        </c:txPr>
        <c:crossAx val="5747373"/>
        <c:crosses val="autoZero"/>
        <c:auto val="1"/>
        <c:lblAlgn val="ctr"/>
        <c:lblOffset val="100"/>
        <c:noMultiLvlLbl val="0"/>
      </c:catAx>
      <c:valAx>
        <c:axId val="574737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57309743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936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NG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NG" sz="2000" spc="-1" strike="noStrike">
                <a:latin typeface="Arial"/>
              </a:rPr>
              <a:t>Click to edit the notes format</a:t>
            </a:r>
            <a:endParaRPr b="0" lang="en-NG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NG" sz="1400" spc="-1" strike="noStrike">
                <a:latin typeface="Times New Roman"/>
              </a:rPr>
              <a:t>&lt;header&gt;</a:t>
            </a:r>
            <a:endParaRPr b="0" lang="en-NG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NG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NG" sz="1400" spc="-1" strike="noStrike">
                <a:latin typeface="Times New Roman"/>
              </a:rPr>
              <a:t>&lt;date/time&gt;</a:t>
            </a:r>
            <a:endParaRPr b="0" lang="en-NG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NG" sz="1400" spc="-1" strike="noStrike">
                <a:latin typeface="Times New Roman"/>
              </a:defRPr>
            </a:lvl1pPr>
          </a:lstStyle>
          <a:p>
            <a:r>
              <a:rPr b="0" lang="en-NG" sz="1400" spc="-1" strike="noStrike">
                <a:latin typeface="Times New Roman"/>
              </a:rPr>
              <a:t>&lt;footer&gt;</a:t>
            </a:r>
            <a:endParaRPr b="0" lang="en-NG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NG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8866370-5C50-4420-93C1-A1CE4E4A5701}" type="slidenum">
              <a:rPr b="0" lang="en-NG" sz="1400" spc="-1" strike="noStrike">
                <a:latin typeface="Times New Roman"/>
              </a:rPr>
              <a:t>&lt;number&gt;</a:t>
            </a:fld>
            <a:endParaRPr b="0" lang="en-NG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NG" sz="20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0DCE6E-8EE7-4910-AADA-853FCC83981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NG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NG" sz="2000" spc="-1" strike="noStrike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E86900-679C-427C-A46A-EFCD694308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NG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NG" sz="20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7B33EC-E9C2-4F26-8F68-DF9AC25C7EA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NG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NG" sz="20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3E392CF-F6DD-4964-AD64-5F3879CBDE5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NG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NG" sz="20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44FC15-97BA-453D-AD87-BEA5BD29EBD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NG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NG" sz="20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A52A18-E36B-4B80-A5AC-960922B96AF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NG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NG" sz="20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E91EF8-735E-469D-8063-EC2D3D0652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NG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NG" sz="20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C05020-FF0B-49A8-82E7-F1F24EFAB8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NG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NG" sz="20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EE51B7-72AD-453B-803D-2087A396B90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NG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NG" sz="2000" spc="-1" strike="noStrike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B92DB2-AA56-4FF1-B687-98E1365DAC2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NG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NG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NG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NG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NG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NG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NG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NG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NG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NG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NG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NG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NG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NG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8503920" y="-1463040"/>
            <a:ext cx="4937400" cy="4937400"/>
          </a:xfrm>
          <a:prstGeom prst="ellipse">
            <a:avLst/>
          </a:prstGeom>
          <a:solidFill>
            <a:srgbClr val="141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9692640" y="4206240"/>
            <a:ext cx="2925720" cy="2925720"/>
          </a:xfrm>
          <a:prstGeom prst="ellipse">
            <a:avLst/>
          </a:prstGeom>
          <a:solidFill>
            <a:srgbClr val="141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822960" y="196596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299" strike="noStrike">
                <a:solidFill>
                  <a:srgbClr val="3d8fb0"/>
                </a:solidFill>
                <a:latin typeface="Calibri"/>
                <a:ea typeface="Calibri"/>
              </a:rPr>
              <a:t>E-COMMERCE DATA INSIGHTS</a:t>
            </a:r>
            <a:endParaRPr b="0" lang="en-NG" sz="1400" spc="-1" strike="noStrike"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822960" y="2423160"/>
            <a:ext cx="2742840" cy="38376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3d8fb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822960" y="242316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DEC 2009  →  DEC 2011</a:t>
            </a:r>
            <a:endParaRPr b="0" lang="en-NG" sz="11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822960" y="2971800"/>
            <a:ext cx="102409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mbria"/>
                <a:ea typeface="Cambria"/>
              </a:rPr>
              <a:t>What Two Years of Transactions Tell Us</a:t>
            </a:r>
            <a:endParaRPr b="0" lang="en-NG" sz="44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822960" y="438912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Two years of sales data from a UK online store. Simple answers on sales, markets, and returns.</a:t>
            </a:r>
            <a:endParaRPr b="0" lang="en-NG" sz="16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822960" y="4251960"/>
            <a:ext cx="1005840" cy="360"/>
          </a:xfrm>
          <a:prstGeom prst="line">
            <a:avLst/>
          </a:prstGeom>
          <a:ln w="38100">
            <a:solidFill>
              <a:srgbClr val="3d8fb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4864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3d8fb0"/>
                </a:solidFill>
                <a:latin typeface="Calibri"/>
                <a:ea typeface="Calibri"/>
              </a:rPr>
              <a:t>PROJECT BACKGROUND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548640" y="7131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Two Years of Data. One Set of Clear Answers.</a:t>
            </a:r>
            <a:endParaRPr b="0" lang="en-NG" sz="3000" spc="-1" strike="noStrike"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822960" y="1691640"/>
            <a:ext cx="10195560" cy="360"/>
          </a:xfrm>
          <a:prstGeom prst="line">
            <a:avLst/>
          </a:prstGeom>
          <a:ln w="25400">
            <a:solidFill>
              <a:srgbClr val="dce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Shape 3"/>
          <p:cNvSpPr/>
          <p:nvPr/>
        </p:nvSpPr>
        <p:spPr>
          <a:xfrm>
            <a:off x="758880" y="1627560"/>
            <a:ext cx="127800" cy="127800"/>
          </a:xfrm>
          <a:prstGeom prst="ellipse">
            <a:avLst/>
          </a:prstGeom>
          <a:solidFill>
            <a:srgbClr val="3d8fb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4"/>
          <p:cNvSpPr/>
          <p:nvPr/>
        </p:nvSpPr>
        <p:spPr>
          <a:xfrm>
            <a:off x="0" y="12344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761"/>
                </a:solidFill>
                <a:latin typeface="Calibri"/>
                <a:ea typeface="Calibri"/>
              </a:rPr>
              <a:t>Dec 2009</a:t>
            </a:r>
            <a:endParaRPr b="0" lang="en-NG" sz="1150" spc="-1" strike="noStrike"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0" y="18014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Data starts</a:t>
            </a:r>
            <a:endParaRPr b="0" lang="en-NG" sz="950" spc="-1" strike="noStrike"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5856840" y="1627560"/>
            <a:ext cx="127800" cy="127800"/>
          </a:xfrm>
          <a:prstGeom prst="ellipse">
            <a:avLst/>
          </a:prstGeom>
          <a:solidFill>
            <a:srgbClr val="3d8fb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7"/>
          <p:cNvSpPr/>
          <p:nvPr/>
        </p:nvSpPr>
        <p:spPr>
          <a:xfrm>
            <a:off x="5097960" y="12344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761"/>
                </a:solidFill>
                <a:latin typeface="Calibri"/>
                <a:ea typeface="Calibri"/>
              </a:rPr>
              <a:t>Dec 2010</a:t>
            </a:r>
            <a:endParaRPr b="0" lang="en-NG" sz="1150" spc="-1" strike="noStrike"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5097960" y="18014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Year 1 complete</a:t>
            </a:r>
            <a:endParaRPr b="0" lang="en-NG" sz="950" spc="-1" strike="noStrike"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10954440" y="1627560"/>
            <a:ext cx="127800" cy="127800"/>
          </a:xfrm>
          <a:prstGeom prst="ellipse">
            <a:avLst/>
          </a:prstGeom>
          <a:solidFill>
            <a:srgbClr val="3d8fb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0"/>
          <p:cNvSpPr/>
          <p:nvPr/>
        </p:nvSpPr>
        <p:spPr>
          <a:xfrm>
            <a:off x="10195560" y="12344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761"/>
                </a:solidFill>
                <a:latin typeface="Calibri"/>
                <a:ea typeface="Calibri"/>
              </a:rPr>
              <a:t>Dec 2011</a:t>
            </a:r>
            <a:endParaRPr b="0" lang="en-NG" sz="1150" spc="-1" strike="noStrike"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10195560" y="18014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  <a:ea typeface="Calibri"/>
              </a:rPr>
              <a:t>Data ends</a:t>
            </a:r>
            <a:endParaRPr b="0" lang="en-NG" sz="950" spc="-1" strike="noStrike"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822960" y="219456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24 months of transaction data — the base for every insight in this deck.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548640" y="2880360"/>
            <a:ext cx="5257440" cy="169128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e2761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Shape 14"/>
          <p:cNvSpPr/>
          <p:nvPr/>
        </p:nvSpPr>
        <p:spPr>
          <a:xfrm>
            <a:off x="868680" y="3136320"/>
            <a:ext cx="127800" cy="127800"/>
          </a:xfrm>
          <a:prstGeom prst="ellipse">
            <a:avLst/>
          </a:prstGeom>
          <a:solidFill>
            <a:srgbClr val="3d8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5"/>
          <p:cNvSpPr/>
          <p:nvPr/>
        </p:nvSpPr>
        <p:spPr>
          <a:xfrm>
            <a:off x="868680" y="333756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e2761"/>
                </a:solidFill>
                <a:latin typeface="Cambria"/>
                <a:ea typeface="Cambria"/>
              </a:rPr>
              <a:t>The Business</a:t>
            </a:r>
            <a:endParaRPr b="0" lang="en-NG" sz="1700" spc="-1" strike="noStrike"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868680" y="3721680"/>
            <a:ext cx="4617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2b2e4a"/>
                </a:solidFill>
                <a:latin typeface="Calibri"/>
                <a:ea typeface="Calibri"/>
              </a:rPr>
              <a:t>A UK online store. Sells items to customers in the UK and abroad.</a:t>
            </a:r>
            <a:endParaRPr b="0" lang="en-NG" sz="1250" spc="-1" strike="noStrike">
              <a:latin typeface="Arial"/>
            </a:endParaRPr>
          </a:p>
        </p:txBody>
      </p:sp>
      <p:sp>
        <p:nvSpPr>
          <p:cNvPr id="69" name="Shape 17"/>
          <p:cNvSpPr/>
          <p:nvPr/>
        </p:nvSpPr>
        <p:spPr>
          <a:xfrm>
            <a:off x="6263640" y="2880360"/>
            <a:ext cx="5257440" cy="169128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e2761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0" name="Shape 18"/>
          <p:cNvSpPr/>
          <p:nvPr/>
        </p:nvSpPr>
        <p:spPr>
          <a:xfrm>
            <a:off x="6583680" y="3136320"/>
            <a:ext cx="127800" cy="127800"/>
          </a:xfrm>
          <a:prstGeom prst="ellipse">
            <a:avLst/>
          </a:prstGeom>
          <a:solidFill>
            <a:srgbClr val="3d8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9"/>
          <p:cNvSpPr/>
          <p:nvPr/>
        </p:nvSpPr>
        <p:spPr>
          <a:xfrm>
            <a:off x="6583680" y="333756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e2761"/>
                </a:solidFill>
                <a:latin typeface="Cambria"/>
                <a:ea typeface="Cambria"/>
              </a:rPr>
              <a:t>The Challenge</a:t>
            </a:r>
            <a:endParaRPr b="0" lang="en-NG" sz="1700" spc="-1" strike="noStrike">
              <a:latin typeface="Arial"/>
            </a:endParaRPr>
          </a:p>
        </p:txBody>
      </p:sp>
      <p:sp>
        <p:nvSpPr>
          <p:cNvPr id="72" name="Text 20"/>
          <p:cNvSpPr/>
          <p:nvPr/>
        </p:nvSpPr>
        <p:spPr>
          <a:xfrm>
            <a:off x="6583680" y="3721680"/>
            <a:ext cx="4617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2b2e4a"/>
                </a:solidFill>
                <a:latin typeface="Calibri"/>
                <a:ea typeface="Calibri"/>
              </a:rPr>
              <a:t>Years of raw sales data sit unused. No clear answers on best months, best markets, or which products lose money to returns.</a:t>
            </a:r>
            <a:endParaRPr b="0" lang="en-NG" sz="1250" spc="-1" strike="noStrike">
              <a:latin typeface="Arial"/>
            </a:endParaRPr>
          </a:p>
        </p:txBody>
      </p:sp>
      <p:sp>
        <p:nvSpPr>
          <p:cNvPr id="73" name="Shape 21"/>
          <p:cNvSpPr/>
          <p:nvPr/>
        </p:nvSpPr>
        <p:spPr>
          <a:xfrm>
            <a:off x="548640" y="4800600"/>
            <a:ext cx="5257440" cy="169128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e2761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4" name="Shape 22"/>
          <p:cNvSpPr/>
          <p:nvPr/>
        </p:nvSpPr>
        <p:spPr>
          <a:xfrm>
            <a:off x="868680" y="5056560"/>
            <a:ext cx="127800" cy="127800"/>
          </a:xfrm>
          <a:prstGeom prst="ellipse">
            <a:avLst/>
          </a:prstGeom>
          <a:solidFill>
            <a:srgbClr val="3d8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23"/>
          <p:cNvSpPr/>
          <p:nvPr/>
        </p:nvSpPr>
        <p:spPr>
          <a:xfrm>
            <a:off x="868680" y="525780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e2761"/>
                </a:solidFill>
                <a:latin typeface="Cambria"/>
                <a:ea typeface="Cambria"/>
              </a:rPr>
              <a:t>The Goal</a:t>
            </a:r>
            <a:endParaRPr b="0" lang="en-NG" sz="1700" spc="-1" strike="noStrike">
              <a:latin typeface="Arial"/>
            </a:endParaRPr>
          </a:p>
        </p:txBody>
      </p:sp>
      <p:sp>
        <p:nvSpPr>
          <p:cNvPr id="76" name="Text 24"/>
          <p:cNvSpPr/>
          <p:nvPr/>
        </p:nvSpPr>
        <p:spPr>
          <a:xfrm>
            <a:off x="868680" y="5641920"/>
            <a:ext cx="4617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2b2e4a"/>
                </a:solidFill>
                <a:latin typeface="Calibri"/>
                <a:ea typeface="Calibri"/>
              </a:rPr>
              <a:t>Turn 1 million+ raw sales records into a small set of clear answers the business can use.</a:t>
            </a:r>
            <a:endParaRPr b="0" lang="en-NG" sz="1250" spc="-1" strike="noStrike">
              <a:latin typeface="Arial"/>
            </a:endParaRPr>
          </a:p>
        </p:txBody>
      </p:sp>
      <p:sp>
        <p:nvSpPr>
          <p:cNvPr id="77" name="Shape 25"/>
          <p:cNvSpPr/>
          <p:nvPr/>
        </p:nvSpPr>
        <p:spPr>
          <a:xfrm>
            <a:off x="6263640" y="4800600"/>
            <a:ext cx="5257440" cy="169128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e2761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" name="Shape 26"/>
          <p:cNvSpPr/>
          <p:nvPr/>
        </p:nvSpPr>
        <p:spPr>
          <a:xfrm>
            <a:off x="6583680" y="5056560"/>
            <a:ext cx="127800" cy="127800"/>
          </a:xfrm>
          <a:prstGeom prst="ellipse">
            <a:avLst/>
          </a:prstGeom>
          <a:solidFill>
            <a:srgbClr val="3d8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27"/>
          <p:cNvSpPr/>
          <p:nvPr/>
        </p:nvSpPr>
        <p:spPr>
          <a:xfrm>
            <a:off x="6583680" y="525780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e2761"/>
                </a:solidFill>
                <a:latin typeface="Cambria"/>
                <a:ea typeface="Cambria"/>
              </a:rPr>
              <a:t>The Approach</a:t>
            </a:r>
            <a:endParaRPr b="0" lang="en-NG" sz="1700" spc="-1" strike="noStrike"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6583680" y="5641920"/>
            <a:ext cx="4617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2b2e4a"/>
                </a:solidFill>
                <a:latin typeface="Calibri"/>
                <a:ea typeface="Calibri"/>
              </a:rPr>
              <a:t>Cleaned the data. Calculated key numbers. Loaded everything into a database — built to last, not a one-time report.</a:t>
            </a:r>
            <a:endParaRPr b="0" lang="en-NG" sz="1250" spc="-1" strike="noStrike">
              <a:latin typeface="Arial"/>
            </a:endParaRPr>
          </a:p>
        </p:txBody>
      </p:sp>
      <p:sp>
        <p:nvSpPr>
          <p:cNvPr id="81" name="Text 29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02</a:t>
            </a:r>
            <a:endParaRPr b="0" lang="en-NG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4864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3d8fb0"/>
                </a:solidFill>
                <a:latin typeface="Calibri"/>
                <a:ea typeface="Calibri"/>
              </a:rPr>
              <a:t>DATA SOURCE &amp; DATA QUALITY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48640" y="7131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The Data — And What We Fixed First</a:t>
            </a:r>
            <a:endParaRPr b="0" lang="en-NG" sz="3000" spc="-1" strike="noStrike"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548640" y="1783080"/>
            <a:ext cx="11063880" cy="86832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3"/>
          <p:cNvSpPr/>
          <p:nvPr/>
        </p:nvSpPr>
        <p:spPr>
          <a:xfrm>
            <a:off x="868680" y="1783080"/>
            <a:ext cx="10423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Real sales data, </a:t>
            </a:r>
            <a:r>
              <a:rPr b="1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Dec 2009 to Dec 2011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. Over </a:t>
            </a:r>
            <a:r>
              <a:rPr b="1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1 million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 rows. Each row: what was bought, by whom, when, and for how much.</a:t>
            </a:r>
            <a:endParaRPr b="0" lang="en-NG" sz="1400" spc="-1" strike="noStrike"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548640" y="2880360"/>
            <a:ext cx="2605680" cy="3245760"/>
          </a:xfrm>
          <a:prstGeom prst="roundRect">
            <a:avLst>
              <a:gd name="adj" fmla="val 2807"/>
            </a:avLst>
          </a:prstGeom>
          <a:solidFill>
            <a:srgbClr val="f4f7fc"/>
          </a:solidFill>
          <a:ln w="12700">
            <a:solidFill>
              <a:srgbClr val="dce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5"/>
          <p:cNvSpPr/>
          <p:nvPr/>
        </p:nvSpPr>
        <p:spPr>
          <a:xfrm>
            <a:off x="731520" y="308160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3d8fb0"/>
                </a:solidFill>
                <a:latin typeface="Cambria"/>
                <a:ea typeface="Cambria"/>
              </a:rPr>
              <a:t>22.77%</a:t>
            </a:r>
            <a:endParaRPr b="0" lang="en-NG" sz="2600" spc="-1" strike="noStrike"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731520" y="368496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761"/>
                </a:solidFill>
                <a:latin typeface="Cambria"/>
                <a:ea typeface="Cambria"/>
              </a:rPr>
              <a:t>Missing customer IDs</a:t>
            </a:r>
            <a:endParaRPr b="0" lang="en-NG" sz="1350" spc="-1" strike="noStrike"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731520" y="42976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b2e4a"/>
                </a:solidFill>
                <a:latin typeface="Calibri"/>
                <a:ea typeface="Calibri"/>
              </a:rPr>
              <a:t>1 in 4 sales had no customer ID. Likely guest checkouts. We left these out of customer-level analysis.</a:t>
            </a:r>
            <a:endParaRPr b="0" lang="en-NG" sz="1050" spc="-1" strike="noStrike"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3383280" y="2880360"/>
            <a:ext cx="2605680" cy="3245760"/>
          </a:xfrm>
          <a:prstGeom prst="roundRect">
            <a:avLst>
              <a:gd name="adj" fmla="val 2807"/>
            </a:avLst>
          </a:prstGeom>
          <a:solidFill>
            <a:srgbClr val="f4f7fc"/>
          </a:solidFill>
          <a:ln w="12700">
            <a:solidFill>
              <a:srgbClr val="dce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9"/>
          <p:cNvSpPr/>
          <p:nvPr/>
        </p:nvSpPr>
        <p:spPr>
          <a:xfrm>
            <a:off x="3566160" y="308160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3d8fb0"/>
                </a:solidFill>
                <a:latin typeface="Cambria"/>
                <a:ea typeface="Cambria"/>
              </a:rPr>
              <a:t>1000s</a:t>
            </a:r>
            <a:endParaRPr b="0" lang="en-NG" sz="2600" spc="-1" strike="noStrike"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3566160" y="368496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761"/>
                </a:solidFill>
                <a:latin typeface="Cambria"/>
                <a:ea typeface="Cambria"/>
              </a:rPr>
              <a:t>Inconsistent Description</a:t>
            </a:r>
            <a:endParaRPr b="0" lang="en-NG" sz="1350" spc="-1" strike="noStrike"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3566160" y="42976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b2e4a"/>
                </a:solidFill>
                <a:latin typeface="Calibri"/>
                <a:ea typeface="Calibri"/>
              </a:rPr>
              <a:t>Same product, different descriptions probably due to typos and mixed capitalization. We kept the most common name for each product.</a:t>
            </a:r>
            <a:endParaRPr b="0" lang="en-NG" sz="1050" spc="-1" strike="noStrike">
              <a:latin typeface="Arial"/>
            </a:endParaRPr>
          </a:p>
        </p:txBody>
      </p:sp>
      <p:sp>
        <p:nvSpPr>
          <p:cNvPr id="94" name="Shape 12"/>
          <p:cNvSpPr/>
          <p:nvPr/>
        </p:nvSpPr>
        <p:spPr>
          <a:xfrm>
            <a:off x="6217920" y="2880360"/>
            <a:ext cx="2605680" cy="3245760"/>
          </a:xfrm>
          <a:prstGeom prst="roundRect">
            <a:avLst>
              <a:gd name="adj" fmla="val 2807"/>
            </a:avLst>
          </a:prstGeom>
          <a:solidFill>
            <a:srgbClr val="f4f7fc"/>
          </a:solidFill>
          <a:ln w="12700">
            <a:solidFill>
              <a:srgbClr val="dce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3"/>
          <p:cNvSpPr/>
          <p:nvPr/>
        </p:nvSpPr>
        <p:spPr>
          <a:xfrm>
            <a:off x="6400800" y="308160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3d8fb0"/>
                </a:solidFill>
                <a:latin typeface="Cambria"/>
                <a:ea typeface="Cambria"/>
              </a:rPr>
              <a:t>~11%</a:t>
            </a:r>
            <a:endParaRPr b="0" lang="en-NG" sz="2600" spc="-1" strike="noStrike"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6400800" y="368496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761"/>
                </a:solidFill>
                <a:latin typeface="Cambria"/>
                <a:ea typeface="Cambria"/>
              </a:rPr>
              <a:t>Unmatched returns</a:t>
            </a:r>
            <a:endParaRPr b="0" lang="en-NG" sz="1350" spc="-1" strike="noStrike"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6400800" y="42976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b2e4a"/>
                </a:solidFill>
                <a:latin typeface="Calibri"/>
                <a:ea typeface="Calibri"/>
              </a:rPr>
              <a:t>Returns weren't linked to sales. We matched each return to its likely sale by customer, product, and date. Unclear matches were dropped.</a:t>
            </a:r>
            <a:endParaRPr b="0" lang="en-NG" sz="1050" spc="-1" strike="noStrike"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9052560" y="2880360"/>
            <a:ext cx="2605680" cy="3245760"/>
          </a:xfrm>
          <a:prstGeom prst="roundRect">
            <a:avLst>
              <a:gd name="adj" fmla="val 2807"/>
            </a:avLst>
          </a:prstGeom>
          <a:solidFill>
            <a:srgbClr val="f4f7fc"/>
          </a:solidFill>
          <a:ln w="12700">
            <a:solidFill>
              <a:srgbClr val="dce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7"/>
          <p:cNvSpPr/>
          <p:nvPr/>
        </p:nvSpPr>
        <p:spPr>
          <a:xfrm>
            <a:off x="9235440" y="308160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3d8fb0"/>
                </a:solidFill>
                <a:latin typeface="Cambria"/>
                <a:ea typeface="Cambria"/>
              </a:rPr>
              <a:t>N/A</a:t>
            </a:r>
            <a:endParaRPr b="0" lang="en-NG" sz="2600" spc="-1" strike="noStrike"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9235440" y="368496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761"/>
                </a:solidFill>
                <a:latin typeface="Cambria"/>
                <a:ea typeface="Cambria"/>
              </a:rPr>
              <a:t>Non-product rows</a:t>
            </a:r>
            <a:endParaRPr b="0" lang="en-NG" sz="1350" spc="-1" strike="noStrike"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9235440" y="42976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b2e4a"/>
                </a:solidFill>
                <a:latin typeface="Calibri"/>
                <a:ea typeface="Calibri"/>
              </a:rPr>
              <a:t>Some rows were postage or manual fixes, not real products. We removed these before ranking best-sellers.</a:t>
            </a:r>
            <a:endParaRPr b="0" lang="en-NG" sz="1050" spc="-1" strike="noStrike"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03</a:t>
            </a:r>
            <a:endParaRPr b="0" lang="en-NG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4864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3d8fb0"/>
                </a:solidFill>
                <a:latin typeface="Calibri"/>
                <a:ea typeface="Calibri"/>
              </a:rPr>
              <a:t>INSIGHT 01 · SEASONALITY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48640" y="7131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Revenue Peaks Every Autumn</a:t>
            </a:r>
            <a:endParaRPr b="0" lang="en-NG" sz="3000" spc="-1" strike="noStrike">
              <a:latin typeface="Arial"/>
            </a:endParaRPr>
          </a:p>
        </p:txBody>
      </p:sp>
      <p:graphicFrame>
        <p:nvGraphicFramePr>
          <p:cNvPr id="105" name="Chart 0"/>
          <p:cNvGraphicFramePr/>
          <p:nvPr/>
        </p:nvGraphicFramePr>
        <p:xfrm>
          <a:off x="548640" y="1691640"/>
          <a:ext cx="11063880" cy="3520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6" name="Shape 2"/>
          <p:cNvSpPr/>
          <p:nvPr/>
        </p:nvSpPr>
        <p:spPr>
          <a:xfrm>
            <a:off x="548640" y="5349240"/>
            <a:ext cx="11063880" cy="1049800"/>
          </a:xfrm>
          <a:prstGeom prst="roundRect">
            <a:avLst>
              <a:gd name="adj" fmla="val 4286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3"/>
          <p:cNvSpPr/>
          <p:nvPr/>
        </p:nvSpPr>
        <p:spPr>
          <a:xfrm>
            <a:off x="777240" y="54680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48" strike="noStrike">
                <a:solidFill>
                  <a:srgbClr val="3d8fb0"/>
                </a:solidFill>
                <a:latin typeface="Calibri"/>
                <a:ea typeface="Calibri"/>
              </a:rPr>
              <a:t>KEY TAKEAWAYS</a:t>
            </a:r>
            <a:endParaRPr b="0" lang="en-NG" sz="1050" spc="-1" strike="noStrike"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777240" y="5742360"/>
            <a:ext cx="10606680" cy="6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e4a"/>
                </a:solidFill>
                <a:latin typeface="Calibri"/>
                <a:ea typeface="Calibri"/>
              </a:rPr>
              <a:t>Revenue jumps every Sept–Nov, in both years.</a:t>
            </a:r>
            <a:endParaRPr b="0" lang="en-NG" sz="11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e4a"/>
                </a:solidFill>
                <a:latin typeface="Calibri"/>
                <a:ea typeface="Calibri"/>
              </a:rPr>
              <a:t>November is the peak month: about £1.17M (2010) and £1.16M (2011).</a:t>
            </a:r>
            <a:endParaRPr b="0" lang="en-NG" sz="11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e4a"/>
                </a:solidFill>
                <a:latin typeface="Calibri"/>
                <a:ea typeface="Calibri"/>
              </a:rPr>
              <a:t>Revenue falls sharply right after, in December.</a:t>
            </a:r>
            <a:endParaRPr b="0" lang="en-NG" sz="11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e4a"/>
                </a:solidFill>
                <a:latin typeface="Calibri"/>
                <a:ea typeface="Calibri"/>
              </a:rPr>
              <a:t>Plan stock and staff before the surge, not after.</a:t>
            </a:r>
            <a:endParaRPr b="0" lang="en-NG" sz="1150" spc="-1" strike="noStrike"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04</a:t>
            </a:r>
            <a:endParaRPr b="0" lang="en-NG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864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3d8fb0"/>
                </a:solidFill>
                <a:latin typeface="Calibri"/>
                <a:ea typeface="Calibri"/>
              </a:rPr>
              <a:t>INSIGHT 02 · GEOGRAPHY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48640" y="7131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The UK Drives Almost All Revenue</a:t>
            </a:r>
            <a:endParaRPr b="0" lang="en-NG" sz="3000" spc="-1" strike="noStrike">
              <a:latin typeface="Arial"/>
            </a:endParaRPr>
          </a:p>
        </p:txBody>
      </p:sp>
      <p:graphicFrame>
        <p:nvGraphicFramePr>
          <p:cNvPr id="112" name="Chart 0"/>
          <p:cNvGraphicFramePr/>
          <p:nvPr/>
        </p:nvGraphicFramePr>
        <p:xfrm>
          <a:off x="548640" y="1737360"/>
          <a:ext cx="6949080" cy="448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3" name="Shape 2"/>
          <p:cNvSpPr/>
          <p:nvPr/>
        </p:nvSpPr>
        <p:spPr>
          <a:xfrm>
            <a:off x="7772400" y="1737360"/>
            <a:ext cx="3840120" cy="159984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3"/>
          <p:cNvSpPr/>
          <p:nvPr/>
        </p:nvSpPr>
        <p:spPr>
          <a:xfrm>
            <a:off x="7955280" y="1828800"/>
            <a:ext cx="347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mbria"/>
                <a:ea typeface="Cambria"/>
              </a:rPr>
              <a:t>~95%</a:t>
            </a:r>
            <a:endParaRPr b="0" lang="en-NG" sz="4400" spc="-1" strike="noStrike"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7955280" y="260604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of all revenue comes from the UK alone</a:t>
            </a:r>
            <a:endParaRPr b="0" lang="en-NG" sz="1300" spc="-1" strike="noStrike">
              <a:latin typeface="Arial"/>
            </a:endParaRPr>
          </a:p>
        </p:txBody>
      </p:sp>
      <p:sp>
        <p:nvSpPr>
          <p:cNvPr id="116" name="Shape 5"/>
          <p:cNvSpPr/>
          <p:nvPr/>
        </p:nvSpPr>
        <p:spPr>
          <a:xfrm>
            <a:off x="7772400" y="3520440"/>
            <a:ext cx="3840120" cy="269712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 w="12700">
            <a:solidFill>
              <a:srgbClr val="dce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6"/>
          <p:cNvSpPr/>
          <p:nvPr/>
        </p:nvSpPr>
        <p:spPr>
          <a:xfrm>
            <a:off x="8001000" y="367596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48" strike="noStrike">
                <a:solidFill>
                  <a:srgbClr val="3d8fb0"/>
                </a:solidFill>
                <a:latin typeface="Calibri"/>
                <a:ea typeface="Calibri"/>
              </a:rPr>
              <a:t>KEY TAKEAWAYS</a:t>
            </a:r>
            <a:endParaRPr b="0" lang="en-NG" sz="1050" spc="-1" strike="noStrike"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8001000" y="3977640"/>
            <a:ext cx="338292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e4a"/>
                </a:solidFill>
                <a:latin typeface="Calibri"/>
                <a:ea typeface="Calibri"/>
              </a:rPr>
              <a:t>UK revenue: £14.4M. Next market, Ireland: £616K.</a:t>
            </a:r>
            <a:endParaRPr b="0" lang="en-NG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e4a"/>
                </a:solidFill>
                <a:latin typeface="Calibri"/>
                <a:ea typeface="Calibri"/>
              </a:rPr>
              <a:t>This is close to a single-country business.</a:t>
            </a:r>
            <a:endParaRPr b="0" lang="en-NG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e4a"/>
                </a:solidFill>
                <a:latin typeface="Calibri"/>
                <a:ea typeface="Calibri"/>
              </a:rPr>
              <a:t>Big opportunity to grow abroad.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05</a:t>
            </a:r>
            <a:endParaRPr b="0" lang="en-NG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54864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3d8fb0"/>
                </a:solidFill>
                <a:latin typeface="Calibri"/>
                <a:ea typeface="Calibri"/>
              </a:rPr>
              <a:t>INSIGHT 03 · PRODUCT MIX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548640" y="7131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Not Every Top Product Is a Real Winner</a:t>
            </a:r>
            <a:endParaRPr b="0" lang="en-NG" sz="3000" spc="-1" strike="noStrike">
              <a:latin typeface="Arial"/>
            </a:endParaRPr>
          </a:p>
        </p:txBody>
      </p:sp>
      <p:graphicFrame>
        <p:nvGraphicFramePr>
          <p:cNvPr id="122" name="Chart 0"/>
          <p:cNvGraphicFramePr/>
          <p:nvPr/>
        </p:nvGraphicFramePr>
        <p:xfrm>
          <a:off x="548640" y="1737360"/>
          <a:ext cx="6857640" cy="448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3" name="Shape 2"/>
          <p:cNvSpPr/>
          <p:nvPr/>
        </p:nvSpPr>
        <p:spPr>
          <a:xfrm>
            <a:off x="7635240" y="1737360"/>
            <a:ext cx="3977280" cy="214848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 w="12700">
            <a:solidFill>
              <a:srgbClr val="dce3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"/>
          <p:cNvSpPr/>
          <p:nvPr/>
        </p:nvSpPr>
        <p:spPr>
          <a:xfrm>
            <a:off x="7863840" y="190188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mbria"/>
                <a:ea typeface="Cambria"/>
              </a:rPr>
              <a:t>Real popularity</a:t>
            </a:r>
            <a:endParaRPr b="0" lang="en-NG" sz="1400" spc="-1" strike="noStrike"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7863840" y="2286000"/>
            <a:ext cx="3520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e4a"/>
                </a:solidFill>
                <a:latin typeface="Calibri"/>
                <a:ea typeface="Calibri"/>
              </a:rPr>
              <a:t>Item 22423 is the #1 seller by true demand.</a:t>
            </a:r>
            <a:endParaRPr b="0" lang="en-NG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e4a"/>
                </a:solidFill>
                <a:latin typeface="Calibri"/>
                <a:ea typeface="Calibri"/>
              </a:rPr>
              <a:t>3,318 separate orders — not one big buyer.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7635240" y="4023360"/>
            <a:ext cx="3977280" cy="2194200"/>
          </a:xfrm>
          <a:prstGeom prst="roundRect">
            <a:avLst>
              <a:gd name="adj" fmla="val 3333"/>
            </a:avLst>
          </a:prstGeom>
          <a:solidFill>
            <a:srgbClr val="e87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6"/>
          <p:cNvSpPr/>
          <p:nvPr/>
        </p:nvSpPr>
        <p:spPr>
          <a:xfrm>
            <a:off x="7863840" y="418788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Bulk-order distortion</a:t>
            </a:r>
            <a:endParaRPr b="0" lang="en-NG" sz="1400" spc="-1" strike="noStrike"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7863840" y="4572000"/>
            <a:ext cx="3520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Item 23843 looks like a top seller.</a:t>
            </a:r>
            <a:endParaRPr b="0" lang="en-NG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It's really just one huge bulk order.</a:t>
            </a:r>
            <a:endParaRPr b="0" lang="en-NG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Don't restock it like a popular item.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06</a:t>
            </a:r>
            <a:endParaRPr b="0" lang="en-NG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54864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3d8fb0"/>
                </a:solidFill>
                <a:latin typeface="Calibri"/>
                <a:ea typeface="Calibri"/>
              </a:rPr>
              <a:t>INSIGHT 04 · RETURNS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548640" y="7131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Two Products Have a Returns Problem</a:t>
            </a:r>
            <a:endParaRPr b="0" lang="en-NG" sz="3000" spc="-1" strike="noStrike">
              <a:latin typeface="Arial"/>
            </a:endParaRPr>
          </a:p>
        </p:txBody>
      </p:sp>
      <p:graphicFrame>
        <p:nvGraphicFramePr>
          <p:cNvPr id="132" name="Chart 0"/>
          <p:cNvGraphicFramePr/>
          <p:nvPr/>
        </p:nvGraphicFramePr>
        <p:xfrm>
          <a:off x="548640" y="1737360"/>
          <a:ext cx="6949080" cy="448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3" name="Shape 2"/>
          <p:cNvSpPr/>
          <p:nvPr/>
        </p:nvSpPr>
        <p:spPr>
          <a:xfrm>
            <a:off x="7772400" y="1737360"/>
            <a:ext cx="3840120" cy="448020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"/>
          <p:cNvSpPr/>
          <p:nvPr/>
        </p:nvSpPr>
        <p:spPr>
          <a:xfrm>
            <a:off x="8001000" y="192024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Check these two now</a:t>
            </a:r>
            <a:endParaRPr b="0" lang="en-NG" sz="1600" spc="-1" strike="noStrike"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8001000" y="2514600"/>
            <a:ext cx="33829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cadcfc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Product 23843: 100% returned. Same item as the bulk order.</a:t>
            </a:r>
            <a:endParaRPr b="0" lang="en-NG" sz="12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cadcfc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Product 23166: 96% returned, on about 78,000 units sold.</a:t>
            </a:r>
            <a:endParaRPr b="0" lang="en-NG" sz="12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cadcfc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Checked twice — once in Pandas, once in SQL. Same result both times.</a:t>
            </a:r>
            <a:endParaRPr b="0" lang="en-NG" sz="12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cadcfc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Talk to the customers or suppliers behind these two products.</a:t>
            </a:r>
            <a:endParaRPr b="0" lang="en-NG" sz="1250" spc="-1" strike="noStrike"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07</a:t>
            </a:r>
            <a:endParaRPr b="0" lang="en-NG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4864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3d8fb0"/>
                </a:solidFill>
                <a:latin typeface="Calibri"/>
                <a:ea typeface="Calibri"/>
              </a:rPr>
              <a:t>INSIGHT 05 · CROSS-MARKET DEMAND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548640" y="7131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Best Seller, By Country</a:t>
            </a:r>
            <a:endParaRPr b="0" lang="en-NG" sz="3000" spc="-1" strike="noStrike">
              <a:latin typeface="Arial"/>
            </a:endParaRPr>
          </a:p>
        </p:txBody>
      </p:sp>
      <p:graphicFrame>
        <p:nvGraphicFramePr>
          <p:cNvPr id="139" name="Table 0"/>
          <p:cNvGraphicFramePr/>
          <p:nvPr/>
        </p:nvGraphicFramePr>
        <p:xfrm>
          <a:off x="548640" y="1828800"/>
          <a:ext cx="11063880" cy="2267280"/>
        </p:xfrm>
        <a:graphic>
          <a:graphicData uri="http://schemas.openxmlformats.org/drawingml/2006/table">
            <a:tbl>
              <a:tblPr/>
              <a:tblGrid>
                <a:gridCol w="2834640"/>
                <a:gridCol w="2194560"/>
                <a:gridCol w="1920240"/>
                <a:gridCol w="4114800"/>
              </a:tblGrid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Country</a:t>
                      </a:r>
                      <a:endParaRPr b="0" lang="en-NG" sz="13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Top Product</a:t>
                      </a:r>
                      <a:endParaRPr b="0" lang="en-NG" sz="13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Revenue</a:t>
                      </a:r>
                      <a:endParaRPr b="0" lang="en-NG" sz="13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It Means</a:t>
                      </a:r>
                      <a:endParaRPr b="0" lang="en-NG" sz="13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United Kingdom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85123A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£227,965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Top home-market seller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Ireland (EIRE)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3d8fb0"/>
                          </a:solidFill>
                          <a:latin typeface="Calibri"/>
                          <a:ea typeface="Calibri"/>
                        </a:rPr>
                        <a:t>22423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£14,637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Same item that's popular in Insight 03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4f7fc"/>
                    </a:solidFill>
                  </a:tcPr>
                </a:tc>
              </a:tr>
              <a:tr h="567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Germany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3d8fb0"/>
                          </a:solidFill>
                          <a:latin typeface="Calibri"/>
                          <a:ea typeface="Calibri"/>
                        </a:rPr>
                        <a:t>22423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£13,549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Same item again — real demand across borders</a:t>
                      </a:r>
                      <a:endParaRPr b="0" lang="en-NG" sz="12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Shape 2"/>
          <p:cNvSpPr/>
          <p:nvPr/>
        </p:nvSpPr>
        <p:spPr>
          <a:xfrm>
            <a:off x="548640" y="4572000"/>
            <a:ext cx="11063880" cy="169128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3"/>
          <p:cNvSpPr/>
          <p:nvPr/>
        </p:nvSpPr>
        <p:spPr>
          <a:xfrm>
            <a:off x="822960" y="4709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48" strike="noStrike">
                <a:solidFill>
                  <a:srgbClr val="3d8fb0"/>
                </a:solidFill>
                <a:latin typeface="Calibri"/>
                <a:ea typeface="Calibri"/>
              </a:rPr>
              <a:t>KEY TAKEAWAYS</a:t>
            </a:r>
            <a:endParaRPr b="0" lang="en-NG" sz="1050" spc="-1" strike="noStrike"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822960" y="501084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2b2e4a"/>
                </a:solidFill>
                <a:latin typeface="Calibri"/>
                <a:ea typeface="Calibri"/>
              </a:rPr>
              <a:t>UK's top seller (85123A) earned £227,965 — the biggest single product anywhere.</a:t>
            </a:r>
            <a:endParaRPr b="0" lang="en-NG" sz="12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2b2e4a"/>
                </a:solidFill>
                <a:latin typeface="Calibri"/>
                <a:ea typeface="Calibri"/>
              </a:rPr>
              <a:t>Item 22423 is also the top seller in Ireland and Germany.</a:t>
            </a:r>
            <a:endParaRPr b="0" lang="en-NG" sz="12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2b2e4a"/>
                </a:solidFill>
                <a:latin typeface="Calibri"/>
                <a:ea typeface="Calibri"/>
              </a:rPr>
              <a:t>That's real demand across borders, not a one-off bulk order.</a:t>
            </a:r>
            <a:endParaRPr b="0" lang="en-NG" sz="1250" spc="-1" strike="noStrike"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08</a:t>
            </a:r>
            <a:endParaRPr b="0" lang="en-NG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-1645920" y="3840480"/>
            <a:ext cx="4754520" cy="4754520"/>
          </a:xfrm>
          <a:prstGeom prst="ellipse">
            <a:avLst/>
          </a:prstGeom>
          <a:solidFill>
            <a:srgbClr val="141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"/>
          <p:cNvSpPr/>
          <p:nvPr/>
        </p:nvSpPr>
        <p:spPr>
          <a:xfrm>
            <a:off x="54864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adcfc"/>
                </a:solidFill>
                <a:latin typeface="Calibri"/>
                <a:ea typeface="Calibri"/>
              </a:rPr>
              <a:t>RECOMMENDATION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548640" y="10972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Two Simple Next Steps</a:t>
            </a:r>
            <a:endParaRPr b="0" lang="en-NG" sz="3400" spc="-1" strike="noStrike"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822960" y="2651760"/>
            <a:ext cx="5257440" cy="2925720"/>
          </a:xfrm>
          <a:prstGeom prst="roundRect">
            <a:avLst>
              <a:gd name="adj" fmla="val 2500"/>
            </a:avLst>
          </a:prstGeom>
          <a:solidFill>
            <a:srgbClr val="141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4"/>
          <p:cNvSpPr/>
          <p:nvPr/>
        </p:nvSpPr>
        <p:spPr>
          <a:xfrm>
            <a:off x="1143000" y="2926080"/>
            <a:ext cx="137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3d8fb0"/>
                </a:solidFill>
                <a:latin typeface="Cambria"/>
                <a:ea typeface="Cambria"/>
              </a:rPr>
              <a:t>01</a:t>
            </a:r>
            <a:endParaRPr b="0" lang="en-NG" sz="3400" spc="-1" strike="noStrike"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1143000" y="3657600"/>
            <a:ext cx="4617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Fix the returns problem</a:t>
            </a:r>
            <a:endParaRPr b="0" lang="en-NG" sz="1800" spc="-1" strike="noStrike"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1143000" y="4297680"/>
            <a:ext cx="4617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Contact the customers or suppliers for products 23843 and 23166. This is likely a quality or shipping issue that is costing real money.</a:t>
            </a:r>
            <a:endParaRPr b="0" lang="en-NG" sz="1300" spc="-1" strike="noStrike">
              <a:latin typeface="Arial"/>
            </a:endParaRPr>
          </a:p>
        </p:txBody>
      </p:sp>
      <p:sp>
        <p:nvSpPr>
          <p:cNvPr id="151" name="Shape 7"/>
          <p:cNvSpPr/>
          <p:nvPr/>
        </p:nvSpPr>
        <p:spPr>
          <a:xfrm>
            <a:off x="6537960" y="2651760"/>
            <a:ext cx="5257440" cy="2925720"/>
          </a:xfrm>
          <a:prstGeom prst="roundRect">
            <a:avLst>
              <a:gd name="adj" fmla="val 2500"/>
            </a:avLst>
          </a:prstGeom>
          <a:solidFill>
            <a:srgbClr val="141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8"/>
          <p:cNvSpPr/>
          <p:nvPr/>
        </p:nvSpPr>
        <p:spPr>
          <a:xfrm>
            <a:off x="6858000" y="2926080"/>
            <a:ext cx="137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3d8fb0"/>
                </a:solidFill>
                <a:latin typeface="Cambria"/>
                <a:ea typeface="Cambria"/>
              </a:rPr>
              <a:t>02</a:t>
            </a:r>
            <a:endParaRPr b="0" lang="en-NG" sz="3400" spc="-1" strike="noStrike"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6858000" y="3657600"/>
            <a:ext cx="4617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Plan for autumn early</a:t>
            </a:r>
            <a:endParaRPr b="0" lang="en-NG" sz="1800" spc="-1" strike="noStrike"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6858000" y="4297680"/>
            <a:ext cx="4617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Use the Sept–Nov pattern to plan stock and staff before next year's peak — not after it hits.</a:t>
            </a:r>
            <a:endParaRPr b="0" lang="en-NG" sz="1300" spc="-1" strike="noStrike"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09</a:t>
            </a:r>
            <a:endParaRPr b="0" lang="en-NG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4864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3d8fb0"/>
                </a:solidFill>
                <a:latin typeface="Calibri"/>
                <a:ea typeface="Calibri"/>
              </a:rPr>
              <a:t>APPENDIX · TOOLS &amp; APPROACH</a:t>
            </a:r>
            <a:endParaRPr b="0" lang="en-NG" sz="1200" spc="-1" strike="noStrike"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548640" y="7131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How This Was Built — And Checked</a:t>
            </a:r>
            <a:endParaRPr b="0" lang="en-NG" sz="3000" spc="-1" strike="noStrike"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548640" y="1691640"/>
            <a:ext cx="11063880" cy="77688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3"/>
          <p:cNvSpPr/>
          <p:nvPr/>
        </p:nvSpPr>
        <p:spPr>
          <a:xfrm>
            <a:off x="822960" y="169164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b2e4a"/>
                </a:solidFill>
                <a:latin typeface="Calibri"/>
                <a:ea typeface="Calibri"/>
              </a:rPr>
              <a:t>Raw Excel  →  clean CSV / JSON / Parquet  →  Postgres. Cleaned with Pandas. Tested speed with Polars. Every key number checked twice — once in Python, once in SQL.</a:t>
            </a:r>
            <a:endParaRPr b="0" lang="en-NG" sz="1300" spc="-1" strike="noStrike"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548640" y="269748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mbria"/>
                <a:ea typeface="Cambria"/>
              </a:rPr>
              <a:t>Benchmark: Pandas vs. Polars</a:t>
            </a:r>
            <a:endParaRPr b="0" lang="en-NG" sz="1600" spc="-1" strike="noStrike">
              <a:latin typeface="Arial"/>
            </a:endParaRPr>
          </a:p>
        </p:txBody>
      </p:sp>
      <p:graphicFrame>
        <p:nvGraphicFramePr>
          <p:cNvPr id="161" name="Table 0"/>
          <p:cNvGraphicFramePr/>
          <p:nvPr/>
        </p:nvGraphicFramePr>
        <p:xfrm>
          <a:off x="548640" y="3108960"/>
          <a:ext cx="5394600" cy="137124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8288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Tool</a:t>
                      </a:r>
                      <a:endParaRPr b="0" lang="en-NG" sz="13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Time</a:t>
                      </a:r>
                      <a:endParaRPr b="0" lang="en-NG" sz="13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Result</a:t>
                      </a:r>
                      <a:endParaRPr b="0" lang="en-NG" sz="13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Pandas</a:t>
                      </a:r>
                      <a:endParaRPr b="0" lang="en-NG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2.85 seconds</a:t>
                      </a:r>
                      <a:endParaRPr b="0" lang="en-NG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2b2e4a"/>
                          </a:solidFill>
                          <a:latin typeface="Calibri"/>
                          <a:ea typeface="Calibri"/>
                        </a:rPr>
                        <a:t>Baseline</a:t>
                      </a:r>
                      <a:endParaRPr b="0" lang="en-NG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3d8fb0"/>
                          </a:solidFill>
                          <a:latin typeface="Calibri"/>
                          <a:ea typeface="Calibri"/>
                        </a:rPr>
                        <a:t>Polars</a:t>
                      </a:r>
                      <a:endParaRPr b="0" lang="en-NG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3d8fb0"/>
                          </a:solidFill>
                          <a:latin typeface="Calibri"/>
                          <a:ea typeface="Calibri"/>
                        </a:rPr>
                        <a:t>0.46 seconds</a:t>
                      </a:r>
                      <a:endParaRPr b="0" lang="en-NG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3d8fb0"/>
                          </a:solidFill>
                          <a:latin typeface="Calibri"/>
                          <a:ea typeface="Calibri"/>
                        </a:rPr>
                        <a:t>6x faster</a:t>
                      </a:r>
                      <a:endParaRPr b="0" lang="en-NG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ce3f0"/>
                      </a:solidFill>
                    </a:lnL>
                    <a:lnR w="12240">
                      <a:solidFill>
                        <a:srgbClr val="dce3f0"/>
                      </a:solidFill>
                    </a:lnR>
                    <a:lnT w="12240">
                      <a:solidFill>
                        <a:srgbClr val="dce3f0"/>
                      </a:solidFill>
                    </a:lnT>
                    <a:lnB w="12240">
                      <a:solidFill>
                        <a:srgbClr val="dce3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2" name="Text 5"/>
          <p:cNvSpPr/>
          <p:nvPr/>
        </p:nvSpPr>
        <p:spPr>
          <a:xfrm>
            <a:off x="548640" y="46634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48" strike="noStrike">
                <a:solidFill>
                  <a:srgbClr val="3d8fb0"/>
                </a:solidFill>
                <a:latin typeface="Calibri"/>
                <a:ea typeface="Calibri"/>
              </a:rPr>
              <a:t>KEY TAKEAWAYS</a:t>
            </a:r>
            <a:endParaRPr b="0" lang="en-NG" sz="1050" spc="-1" strike="noStrike"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548640" y="4956120"/>
            <a:ext cx="5394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2b2e4a"/>
                </a:solidFill>
                <a:latin typeface="Calibri"/>
                <a:ea typeface="Calibri"/>
              </a:rPr>
              <a:t>Polars is much faster on large data (~780K rows).</a:t>
            </a:r>
            <a:endParaRPr b="0" lang="en-NG" sz="12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2b2e4a"/>
                </a:solidFill>
                <a:latin typeface="Calibri"/>
                <a:ea typeface="Calibri"/>
              </a:rPr>
              <a:t>Pandas is easier to write and more widely used.</a:t>
            </a:r>
            <a:endParaRPr b="0" lang="en-NG" sz="12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799"/>
              </a:spcAft>
              <a:buClr>
                <a:srgbClr val="2b2e4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2b2e4a"/>
                </a:solidFill>
                <a:latin typeface="Calibri"/>
                <a:ea typeface="Calibri"/>
              </a:rPr>
              <a:t>Pick based on what matters most: speed or familiarity.</a:t>
            </a:r>
            <a:endParaRPr b="0" lang="en-NG" sz="1250" spc="-1" strike="noStrike"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6309360" y="26974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mbria"/>
                <a:ea typeface="Cambria"/>
              </a:rPr>
              <a:t>The Plot</a:t>
            </a:r>
            <a:endParaRPr b="0" lang="en-NG" sz="1600" spc="-1" strike="noStrike">
              <a:latin typeface="Arial"/>
            </a:endParaRPr>
          </a:p>
        </p:txBody>
      </p:sp>
      <p:graphicFrame>
        <p:nvGraphicFramePr>
          <p:cNvPr id="165" name="Chart 0"/>
          <p:cNvGraphicFramePr/>
          <p:nvPr/>
        </p:nvGraphicFramePr>
        <p:xfrm>
          <a:off x="6309360" y="3108960"/>
          <a:ext cx="5303160" cy="301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6" name="Text 8"/>
          <p:cNvSpPr/>
          <p:nvPr/>
        </p:nvSpPr>
        <p:spPr>
          <a:xfrm>
            <a:off x="1136592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10</a:t>
            </a:r>
            <a:endParaRPr b="0" lang="en-NG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2026-09-05T06:56:42Z</dcterms:created>
  <dc:creator>PptxGenJS</dc:creator>
  <dc:description/>
  <dc:language>en-NG</dc:language>
  <cp:lastModifiedBy/>
  <dcterms:modified xsi:type="dcterms:W3CDTF">2026-09-05T08:18:52Z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